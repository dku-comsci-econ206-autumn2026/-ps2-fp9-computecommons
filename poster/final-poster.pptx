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a4d0e71c1e4cb7" /><Relationship Type="http://schemas.openxmlformats.org/officeDocument/2006/relationships/extended-properties" Target="/docProps/app.xml" Id="R8b39f55fb6654f96" /><Relationship Type="http://schemas.openxmlformats.org/officeDocument/2006/relationships/officeDocument" Target="/ppt/presentation.xml" Id="R06a532358d7647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06d005d9e24a0a"/>
  </p:sldMasterIdLst>
  <p:notesMasterIdLst>
    <p:notesMasterId xmlns:r="http://schemas.openxmlformats.org/officeDocument/2006/relationships" r:id="R566b1d0a123a4684"/>
  </p:notesMasterIdLst>
  <p:sldIdLst>
    <p:sldId xmlns:r="http://schemas.openxmlformats.org/officeDocument/2006/relationships" id="256" r:id="R3d15068739ae4bed"/>
  </p:sldIdLst>
  <p:sldSz cx="4280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d508bd25c0402a" /><Relationship Type="http://schemas.openxmlformats.org/officeDocument/2006/relationships/slideMaster" Target="/ppt/slideMasters/slideMaster1.xml" Id="R3d06d005d9e24a0a" /><Relationship Type="http://schemas.openxmlformats.org/officeDocument/2006/relationships/notesMaster" Target="/ppt/notesMasters/notesMaster1.xml" Id="R566b1d0a123a4684" /><Relationship Type="http://schemas.openxmlformats.org/officeDocument/2006/relationships/presProps" Target="/ppt/presProps.xml" Id="Rb9f45344060d4b4c" /><Relationship Type="http://schemas.openxmlformats.org/officeDocument/2006/relationships/tableStyles" Target="/ppt/tableStyles.xml" Id="Rb36e756b983f4e08" /><Relationship Type="http://schemas.openxmlformats.org/officeDocument/2006/relationships/slide" Target="/ppt/slides/slide1.xml" Id="R3d15068739ae4b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b937a6f5b04b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14389c00ea4696" /><Relationship Type="http://schemas.openxmlformats.org/officeDocument/2006/relationships/notesMaster" Target="/ppt/notesMasters/notesMaster1.xml" Id="Rf76805fa173548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final A0 template retained. All results synthetic. Sources: https://arxiv.org/abs/2506.07339 ; https://arxiv.org/abs/2608.00337 ; https://www.usenix.org/conference/nsdi20/presentation/mahajan ; https://doi.org/10.1257/aer.p20171027 ; https://www.un.org/sustainabledevelopment/news/communications-material/ . Official SDG icon downloaded unchanged. Final deadline/duration test: code/deadline_test.py, seed 20614. Original test: code/robot_model.py, seed 206.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ecc778e2348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c64daa4c294208" /><Relationship Type="http://schemas.openxmlformats.org/officeDocument/2006/relationships/slideLayout" Target="/ppt/slideLayouts/slideLayout1.xml" Id="R732e63c7c26543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2e63c7c26543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73ecf809141d7" /><Relationship Type="http://schemas.openxmlformats.org/officeDocument/2006/relationships/image" Target="/ppt/media/image.png" Id="R09e9ba8d2ba34dd6" /><Relationship Type="http://schemas.openxmlformats.org/officeDocument/2006/relationships/image" Target="/ppt/media/image2.png" Id="R745662a6ddda45d4" /><Relationship Type="http://schemas.openxmlformats.org/officeDocument/2006/relationships/notesSlide" Target="/ppt/notesSlides/notesSlide1.xml" Id="R3e36fd20cd0148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op-brand-rule">
            <a:extLst xmlns:a="http://schemas.openxmlformats.org/drawingml/2006/main">
              <a:ext uri="{FF2B5EF4-FFF2-40B4-BE49-F238E27FC236}">
                <a16:creationId xmlns:a16="http://schemas.microsoft.com/office/drawing/2014/main" id="{FDACD238-30EA-433B-B9A8-2AB27062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ine">
            <a:extLst xmlns:a="http://schemas.openxmlformats.org/drawingml/2006/main">
              <a:ext uri="{FF2B5EF4-FFF2-40B4-BE49-F238E27FC236}">
                <a16:creationId xmlns:a16="http://schemas.microsoft.com/office/drawing/2014/main" id="{5806B552-CE06-4C40-BA14-45983C2D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1050"/>
            <a:ext cx="2886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COMSCI / ECON 206   |   FINAL RESEARCH PROJECT   |   AUTUMN 2026</a:t>
            </a:r>
          </a:p>
        </p:txBody>
      </p:sp>
      <p:sp>
        <p:nvSpPr>
          <p:cNvPr id="3" name="version">
            <a:extLst xmlns:a="http://schemas.openxmlformats.org/drawingml/2006/main">
              <a:ext uri="{FF2B5EF4-FFF2-40B4-BE49-F238E27FC236}">
                <a16:creationId xmlns:a16="http://schemas.microsoft.com/office/drawing/2014/main" id="{05588AA4-5EDB-4475-A143-90877DB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0" y="6153150"/>
            <a:ext cx="981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FINAL RELEASE · 21 OCTOBER 2026</a:t>
            </a:r>
          </a:p>
        </p:txBody>
      </p:sp>
      <p:sp>
        <p:nvSpPr>
          <p:cNvPr id="4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B66A5B7F-804A-4F30-B6A0-3C5C2AB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29146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94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Compute Commons: Usable Access</a:t>
            </a:r>
          </a:p>
          <a:p xmlns:a="http://schemas.openxmlformats.org/drawingml/2006/main">
            <a:pPr algn="l">
              <a:buNone/>
              <a:defRPr sz="94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94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to Robot Inference</a:t>
            </a:r>
          </a:p>
        </p:txBody>
      </p:sp>
      <p:sp>
        <p:nvSpPr>
          <p:cNvPr id="5" name="authors">
            <a:extLst xmlns:a="http://schemas.openxmlformats.org/drawingml/2006/main">
              <a:ext uri="{FF2B5EF4-FFF2-40B4-BE49-F238E27FC236}">
                <a16:creationId xmlns:a16="http://schemas.microsoft.com/office/drawing/2014/main" id="{439A7EDB-36D0-4D9A-9F53-6704B96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857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Xinrong Sun  |  FP9 · Solo team</a:t>
            </a:r>
          </a:p>
        </p:txBody>
      </p:sp>
      <p:sp>
        <p:nvSpPr>
          <p:cNvPr id="6" name="course-instructor">
            <a:extLst xmlns:a="http://schemas.openxmlformats.org/drawingml/2006/main">
              <a:ext uri="{FF2B5EF4-FFF2-40B4-BE49-F238E27FC236}">
                <a16:creationId xmlns:a16="http://schemas.microsoft.com/office/drawing/2014/main" id="{E0620329-B4C6-41DE-A2DD-7C1BAB05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29225"/>
            <a:ext cx="2857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Course instructor: Professor Luyao Zhang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1E601D-4335-454C-9445-965459F35A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9ba8d2ba34dd6"/>
          <a:stretch xmlns:a="http://schemas.openxmlformats.org/drawingml/2006/main"/>
        </p:blipFill>
        <p:spPr>
          <a:xfrm xmlns:a="http://schemas.openxmlformats.org/drawingml/2006/main">
            <a:off x="32575500" y="2190750"/>
            <a:ext cx="8096250" cy="2595818"/>
          </a:xfrm>
          <a:prstGeom xmlns:a="http://schemas.openxmlformats.org/drawingml/2006/main" prst="rect">
            <a:avLst/>
          </a:prstGeom>
        </p:spPr>
      </p:pic>
      <p:sp>
        <p:nvSpPr>
          <p:cNvPr id="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5C59819-8AE8-4F07-93AA-7B6F5A9A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42804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701690AD-D64E-4607-AE56-414773E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2390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MESSAGE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3EFFE95-83CD-498B-99EF-83DF06C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00875"/>
            <a:ext cx="3499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Winning compute does not guarantee usable service.</a:t>
            </a:r>
          </a:p>
          <a:p xmlns:a="http://schemas.openxmlformats.org/drawingml/2006/main">
            <a:pPr algn="l">
              <a:buNone/>
              <a:defRPr sz="4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Fixed execution times matter: understating duration can raise utility by 8.</a:t>
            </a:r>
          </a:p>
        </p:txBody>
      </p:sp>
      <p:sp>
        <p:nvSpPr>
          <p:cNvPr id="11" name="question-model-title">
            <a:extLst xmlns:a="http://schemas.openxmlformats.org/drawingml/2006/main">
              <a:ext uri="{FF2B5EF4-FFF2-40B4-BE49-F238E27FC236}">
                <a16:creationId xmlns:a16="http://schemas.microsoft.com/office/drawing/2014/main" id="{CD5C4DFB-E23C-429C-B167-B9CF488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01   Question and foundations</a:t>
            </a:r>
          </a:p>
        </p:txBody>
      </p:sp>
      <p:sp>
        <p:nvSpPr>
          <p:cNvPr id="12" name="question-model-title-rule">
            <a:extLst xmlns:a="http://schemas.openxmlformats.org/drawingml/2006/main">
              <a:ext uri="{FF2B5EF4-FFF2-40B4-BE49-F238E27FC236}">
                <a16:creationId xmlns:a16="http://schemas.microsoft.com/office/drawing/2014/main" id="{F81F4A35-5377-44CB-941D-4B8D9F2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earch-question-heading">
            <a:extLst xmlns:a="http://schemas.openxmlformats.org/drawingml/2006/main">
              <a:ext uri="{FF2B5EF4-FFF2-40B4-BE49-F238E27FC236}">
                <a16:creationId xmlns:a16="http://schemas.microsoft.com/office/drawing/2014/main" id="{4190E777-F9CF-4131-93FB-BBFC74FF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Research question &amp; verified gap</a:t>
            </a:r>
          </a:p>
        </p:txBody>
      </p:sp>
      <p:sp>
        <p:nvSpPr>
          <p:cNvPr id="14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76FF89C4-3045-4C47-A236-4952EAA0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906250"/>
            <a:ext cx="11049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/>
            </a:defPPr>
            <a:lvl1pPr>
              <a:defRPr sz="3150"/>
            </a:lvl1pPr>
            <a:lvl2pPr>
              <a:defRPr sz="3150"/>
            </a:lvl2pPr>
            <a:lvl3pPr>
              <a:defRPr sz="315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 xmlns:a="http://schemas.openxmlformats.org/drawingml/2006/main">
            <a:pPr algn="l">
              <a:buNone/>
              <a:defRPr sz="31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1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Can access policy deliver usable robot inference with truthful value bids?</a:t>
            </a:r>
          </a:p>
          <a:p xmlns:a="http://schemas.openxmlformats.org/drawingml/2006/main">
            <a:pPr algn="l">
              <a:buNone/>
              <a:defRPr sz="31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1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Case: small integrators share a pick-and-place inference server. RTC [1], Armory [2] and Themis [3] establish timing and allocation foundations.</a:t>
            </a:r>
          </a:p>
        </p:txBody>
      </p:sp>
      <p:sp>
        <p:nvSpPr>
          <p:cNvPr id="15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19910E6B-D44C-401D-8E76-04691CDB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144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Strategic model and Intellectual Merits</a:t>
            </a:r>
          </a:p>
        </p:txBody>
      </p:sp>
      <p:sp>
        <p:nvSpPr>
          <p:cNvPr id="16" name="model">
            <a:extLst xmlns:a="http://schemas.openxmlformats.org/drawingml/2006/main">
              <a:ext uri="{FF2B5EF4-FFF2-40B4-BE49-F238E27FC236}">
                <a16:creationId xmlns:a16="http://schemas.microsoft.com/office/drawing/2014/main" id="{BD93B7B7-C6A1-4C6C-8B07-9664A88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906750"/>
            <a:ext cx="11049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/>
            </a:defPPr>
            <a:lvl1pPr>
              <a:defRPr sz="3150"/>
            </a:lvl1pPr>
            <a:lvl2pPr>
              <a:defRPr sz="3150"/>
            </a:lvl2pPr>
            <a:lvl3pPr>
              <a:defRPr sz="315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 xmlns:a="http://schemas.openxmlformats.org/drawingml/2006/main">
            <a:pPr algn="l">
              <a:buNone/>
              <a:defRPr sz="31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1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One sealed round; private task values, public state and eligibility.</a:t>
            </a:r>
          </a:p>
          <a:p xmlns:a="http://schemas.openxmlformats.org/drawingml/2006/main">
            <a:pPr algn="l">
              <a:buNone/>
              <a:defRPr sz="31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1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Deadline = min(action-buffer time, pose-validity time) − network/guard delay.</a:t>
            </a:r>
          </a:p>
          <a:p xmlns:a="http://schemas.openxmlformats.org/drawingml/2006/main">
            <a:pPr algn="l">
              <a:buNone/>
              <a:defRPr sz="31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1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Exact feasible allocation + critical payments gives truthful values under fixed public inputs.</a:t>
            </a:r>
          </a:p>
        </p:txBody>
      </p:sp>
      <p:sp>
        <p:nvSpPr>
          <p:cNvPr id="17" name="lenses-heading">
            <a:extLst xmlns:a="http://schemas.openxmlformats.org/drawingml/2006/main">
              <a:ext uri="{FF2B5EF4-FFF2-40B4-BE49-F238E27FC236}">
                <a16:creationId xmlns:a16="http://schemas.microsoft.com/office/drawing/2014/main" id="{DAFBC93E-B2F0-417F-9381-A98FDF5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Three complementary lenses</a:t>
            </a:r>
          </a:p>
        </p:txBody>
      </p:sp>
      <p:sp>
        <p:nvSpPr>
          <p:cNvPr id="18" name="lenses">
            <a:extLst xmlns:a="http://schemas.openxmlformats.org/drawingml/2006/main">
              <a:ext uri="{FF2B5EF4-FFF2-40B4-BE49-F238E27FC236}">
                <a16:creationId xmlns:a16="http://schemas.microsoft.com/office/drawing/2014/main" id="{E2BAF178-74E4-4DFF-A2BB-763467E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/>
            </a:defPPr>
            <a:lvl1pPr>
              <a:defRPr sz="3150"/>
            </a:lvl1pPr>
            <a:lvl2pPr>
              <a:defRPr sz="3150"/>
            </a:lvl2pPr>
            <a:lvl3pPr>
              <a:defRPr sz="315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 xmlns:a="http://schemas.openxmlformats.org/drawingml/2006/main">
            <a:pPr algn="l">
              <a:buNone/>
              <a:defRPr sz="31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1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Game theory: utility requires actual timely delivery.</a:t>
            </a:r>
          </a:p>
          <a:p xmlns:a="http://schemas.openxmlformats.org/drawingml/2006/main">
            <a:pPr algn="l">
              <a:buNone/>
              <a:defRPr sz="31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1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Social choice: entrant access can cost task value.</a:t>
            </a:r>
          </a:p>
          <a:p xmlns:a="http://schemas.openxmlformats.org/drawingml/2006/main">
            <a:pPr algn="l">
              <a:buNone/>
              <a:defRPr sz="315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15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Mechanism design: change admission, payments and state verification together.</a:t>
            </a:r>
          </a:p>
        </p:txBody>
      </p:sp>
      <p:sp>
        <p:nvSpPr>
          <p:cNvPr id="19" name="auction-heading">
            <a:extLst xmlns:a="http://schemas.openxmlformats.org/drawingml/2006/main">
              <a:ext uri="{FF2B5EF4-FFF2-40B4-BE49-F238E27FC236}">
                <a16:creationId xmlns:a16="http://schemas.microsoft.com/office/drawing/2014/main" id="{0A85FF4E-C110-48A1-8567-A06DAC9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0028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/>
            </a:defPPr>
            <a:lvl1pPr>
              <a:defRPr sz="3375"/>
            </a:lvl1pPr>
            <a:lvl2pPr>
              <a:defRPr sz="3375"/>
            </a:lvl2pPr>
            <a:lvl3pPr>
              <a:defRPr sz="3375"/>
            </a:lvl3pPr>
            <a:lvl4pPr>
              <a:defRPr sz="3375"/>
            </a:lvl4pPr>
            <a:lvl5pPr>
              <a:defRPr sz="3375"/>
            </a:lvl5pPr>
            <a:lvl6pPr>
              <a:defRPr sz="3375"/>
            </a:lvl6pPr>
            <a:lvl7pPr>
              <a:defRPr sz="3375"/>
            </a:lvl7pPr>
            <a:lvl8pPr>
              <a:defRPr sz="3375"/>
            </a:lvl8pPr>
            <a:lvl9pPr>
              <a:defRPr sz="3375"/>
            </a:lvl9pPr>
          </a:lstStyle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Auction comparison and boundary</a:t>
            </a:r>
          </a:p>
        </p:txBody>
      </p:sp>
      <p:sp>
        <p:nvSpPr>
          <p:cNvPr id="20" name="auction">
            <a:extLst xmlns:a="http://schemas.openxmlformats.org/drawingml/2006/main">
              <a:ext uri="{FF2B5EF4-FFF2-40B4-BE49-F238E27FC236}">
                <a16:creationId xmlns:a16="http://schemas.microsoft.com/office/drawing/2014/main" id="{182900A4-D41C-4FC8-8D3B-A44A875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717250"/>
            <a:ext cx="1104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/>
            </a:defPPr>
            <a:lvl1pPr>
              <a:defRPr sz="3000"/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 xmlns:a="http://schemas.openxmlformats.org/drawingml/2006/main">
            <a:pPr algn="l">
              <a:buNone/>
              <a:defRPr sz="30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Four jobs: values 10, 9, 8, 6; each 200 ms. Horizon 400 ms; deadlines 200, 200, 400, 400 ms.</a:t>
            </a:r>
          </a:p>
          <a:p xmlns:a="http://schemas.openxmlformats.org/drawingml/2006/main">
            <a:pPr algn="l">
              <a:buNone/>
              <a:defRPr sz="30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Losers pay zero. Execution and settlement end the round. Local safety control is outside the auction.</a:t>
            </a:r>
          </a:p>
        </p:txBody>
      </p:sp>
      <p:sp>
        <p:nvSpPr>
          <p:cNvPr id="21" name="design-evidence-title">
            <a:extLst xmlns:a="http://schemas.openxmlformats.org/drawingml/2006/main">
              <a:ext uri="{FF2B5EF4-FFF2-40B4-BE49-F238E27FC236}">
                <a16:creationId xmlns:a16="http://schemas.microsoft.com/office/drawing/2014/main" id="{5BD8C5A5-8D38-4D0E-9168-5677F645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9525000"/>
            <a:ext cx="161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02   Model and verified evidence</a:t>
            </a:r>
          </a:p>
        </p:txBody>
      </p:sp>
      <p:sp>
        <p:nvSpPr>
          <p:cNvPr id="22" name="design-evidence-title-rule">
            <a:extLst xmlns:a="http://schemas.openxmlformats.org/drawingml/2006/main">
              <a:ext uri="{FF2B5EF4-FFF2-40B4-BE49-F238E27FC236}">
                <a16:creationId xmlns:a16="http://schemas.microsoft.com/office/drawing/2014/main" id="{3074EA74-1821-4014-8E91-ECC3F7A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0506075"/>
            <a:ext cx="1613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search-design-area">
            <a:extLst xmlns:a="http://schemas.openxmlformats.org/drawingml/2006/main">
              <a:ext uri="{FF2B5EF4-FFF2-40B4-BE49-F238E27FC236}">
                <a16:creationId xmlns:a16="http://schemas.microsoft.com/office/drawing/2014/main" id="{6BFB0873-E93B-425C-B20A-BE7D9281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1144250"/>
            <a:ext cx="16134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24" name="research-design-label">
            <a:extLst xmlns:a="http://schemas.openxmlformats.org/drawingml/2006/main">
              <a:ext uri="{FF2B5EF4-FFF2-40B4-BE49-F238E27FC236}">
                <a16:creationId xmlns:a16="http://schemas.microsoft.com/office/drawing/2014/main" id="{8126654C-9B1A-4166-BD33-50CD41EA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12917805"/>
            <a:ext cx="148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/>
            </a:defPPr>
            <a:lvl1pPr>
              <a:defRPr sz="3000"/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 xmlns:a="http://schemas.openxmlformats.org/drawingml/2006/main">
            <a:pPr algn="ctr">
              <a:buNone/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5" name="research-design-prompt">
            <a:extLst xmlns:a="http://schemas.openxmlformats.org/drawingml/2006/main">
              <a:ext uri="{FF2B5EF4-FFF2-40B4-BE49-F238E27FC236}">
                <a16:creationId xmlns:a16="http://schemas.microsoft.com/office/drawing/2014/main" id="{FB9F3C40-7F71-42C4-93FE-A2A20CF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14013180"/>
            <a:ext cx="14324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/>
            </a:defPPr>
            <a:lvl1pPr>
              <a:defRPr sz="2850"/>
            </a:lvl1pPr>
            <a:lvl2pPr>
              <a:defRPr sz="2850"/>
            </a:lvl2pPr>
            <a:lvl3pPr>
              <a:defRPr sz="2850"/>
            </a:lvl3pPr>
            <a:lvl4pPr>
              <a:defRPr sz="2850"/>
            </a:lvl4pPr>
            <a:lvl5pPr>
              <a:defRPr sz="2850"/>
            </a:lvl5pPr>
            <a:lvl6pPr>
              <a:defRPr sz="2850"/>
            </a:lvl6pPr>
            <a:lvl7pPr>
              <a:defRPr sz="2850"/>
            </a:lvl7pPr>
            <a:lvl8pPr>
              <a:defRPr sz="2850"/>
            </a:lvl8pPr>
            <a:lvl9pPr>
              <a:defRPr sz="2850"/>
            </a:lvl9pPr>
          </a:lstStyle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6" name="design-caption">
            <a:extLst xmlns:a="http://schemas.openxmlformats.org/drawingml/2006/main">
              <a:ext uri="{FF2B5EF4-FFF2-40B4-BE49-F238E27FC236}">
                <a16:creationId xmlns:a16="http://schemas.microsoft.com/office/drawing/2014/main" id="{70CF347C-1901-4936-A975-9657C35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097250"/>
            <a:ext cx="1613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/>
            </a:defPPr>
            <a:lvl1pPr>
              <a:defRPr sz="2625"/>
            </a:lvl1pPr>
            <a:lvl2pPr>
              <a:defRPr sz="2625"/>
            </a:lvl2pPr>
            <a:lvl3pPr>
              <a:defRPr sz="2625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 xmlns:a="http://schemas.openxmlformats.org/drawingml/2006/main">
            <a:pPr algn="l">
              <a:buNone/>
              <a:defRPr sz="26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>Figure 1. Inherited foundations → project contribution → synthetic evidence. No new general truthfulness theorem or Armory performance claim. References [1–3] below; full comparison in Appendix G.</a:t>
            </a:r>
          </a:p>
        </p:txBody>
      </p:sp>
      <p:sp>
        <p:nvSpPr>
          <p:cNvPr id="27" name="main-result-area">
            <a:extLst xmlns:a="http://schemas.openxmlformats.org/drawingml/2006/main">
              <a:ext uri="{FF2B5EF4-FFF2-40B4-BE49-F238E27FC236}">
                <a16:creationId xmlns:a16="http://schemas.microsoft.com/office/drawing/2014/main" id="{AF352E9D-B9F1-4E49-9DC0-059C3E7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7621250"/>
            <a:ext cx="161340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28" name="main-result-label">
            <a:extLst xmlns:a="http://schemas.openxmlformats.org/drawingml/2006/main">
              <a:ext uri="{FF2B5EF4-FFF2-40B4-BE49-F238E27FC236}">
                <a16:creationId xmlns:a16="http://schemas.microsoft.com/office/drawing/2014/main" id="{A95FDDB5-DC34-4CBB-B5F4-3B143142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20010120"/>
            <a:ext cx="148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/>
            </a:defPPr>
            <a:lvl1pPr>
              <a:defRPr sz="3000"/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 xmlns:a="http://schemas.openxmlformats.org/drawingml/2006/main">
            <a:pPr algn="ctr">
              <a:buNone/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9" name="main-result-prompt">
            <a:extLst xmlns:a="http://schemas.openxmlformats.org/drawingml/2006/main">
              <a:ext uri="{FF2B5EF4-FFF2-40B4-BE49-F238E27FC236}">
                <a16:creationId xmlns:a16="http://schemas.microsoft.com/office/drawing/2014/main" id="{20FD9DFC-1B88-4B17-A251-EA9C62AC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21105495"/>
            <a:ext cx="143242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/>
            </a:defPPr>
            <a:lvl1pPr>
              <a:defRPr sz="2850"/>
            </a:lvl1pPr>
            <a:lvl2pPr>
              <a:defRPr sz="2850"/>
            </a:lvl2pPr>
            <a:lvl3pPr>
              <a:defRPr sz="2850"/>
            </a:lvl3pPr>
            <a:lvl4pPr>
              <a:defRPr sz="2850"/>
            </a:lvl4pPr>
            <a:lvl5pPr>
              <a:defRPr sz="2850"/>
            </a:lvl5pPr>
            <a:lvl6pPr>
              <a:defRPr sz="2850"/>
            </a:lvl6pPr>
            <a:lvl7pPr>
              <a:defRPr sz="2850"/>
            </a:lvl7pPr>
            <a:lvl8pPr>
              <a:defRPr sz="2850"/>
            </a:lvl8pPr>
            <a:lvl9pPr>
              <a:defRPr sz="2850"/>
            </a:lvl9pPr>
          </a:lstStyle>
          <a:p xmlns:a="http://schemas.openxmlformats.org/drawingml/2006/main">
            <a:pPr algn="ctr">
              <a:buNone/>
              <a:defRPr sz="29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29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0" name="result-caption">
            <a:extLst xmlns:a="http://schemas.openxmlformats.org/drawingml/2006/main">
              <a:ext uri="{FF2B5EF4-FFF2-40B4-BE49-F238E27FC236}">
                <a16:creationId xmlns:a16="http://schemas.microsoft.com/office/drawing/2014/main" id="{C7A388AE-9A9C-4C69-A215-69F12E6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193500"/>
            <a:ext cx="16134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/>
            </a:defPPr>
            <a:lvl1pPr>
              <a:defRPr sz="2775"/>
            </a:lvl1pPr>
            <a:lvl2pPr>
              <a:defRPr sz="2775"/>
            </a:lvl2pPr>
            <a:lvl3pPr>
              <a:defRPr sz="2775"/>
            </a:lvl3pPr>
            <a:lvl4pPr>
              <a:defRPr sz="2775"/>
            </a:lvl4pPr>
            <a:lvl5pPr>
              <a:defRPr sz="2775"/>
            </a:lvl5pPr>
            <a:lvl6pPr>
              <a:defRPr sz="2775"/>
            </a:lvl6pPr>
            <a:lvl7pPr>
              <a:defRPr sz="2775"/>
            </a:lvl7pPr>
            <a:lvl8pPr>
              <a:defRPr sz="2775"/>
            </a:lvl8pPr>
            <a:lvl9pPr>
              <a:defRPr sz="2775"/>
            </a:lvl9pPr>
          </a:lstStyle>
          <a:p xmlns:a="http://schemas.openxmlformats.org/drawingml/2006/main">
            <a:pPr algn="l">
              <a:buNone/>
              <a:defRPr sz="27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Capacity-only B pays 8 for a late result (utility −8). Credit trades 2 value units for entrant access.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Final test: 88,200 bid/deadline deviations, no positive gain; false duration raises utility 2 → 10.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36,289 original checks; 300 paired batches. Exact inputs, proof and limits: Appendix G.</a:t>
            </a:r>
          </a:p>
        </p:txBody>
      </p:sp>
      <p:sp>
        <p:nvSpPr>
          <p:cNvPr id="31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7974BDE9-47C8-4976-9EB0-1D99D2A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03   Practical impacts and roadmap</a:t>
            </a:r>
          </a:p>
        </p:txBody>
      </p:sp>
      <p:sp>
        <p:nvSpPr>
          <p:cNvPr id="32" name="impact-title-rule">
            <a:extLst xmlns:a="http://schemas.openxmlformats.org/drawingml/2006/main">
              <a:ext uri="{FF2B5EF4-FFF2-40B4-BE49-F238E27FC236}">
                <a16:creationId xmlns:a16="http://schemas.microsoft.com/office/drawing/2014/main" id="{92EF0681-32CB-4E92-B477-91FDD7D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al-world-heading">
            <a:extLst xmlns:a="http://schemas.openxmlformats.org/drawingml/2006/main">
              <a:ext uri="{FF2B5EF4-FFF2-40B4-BE49-F238E27FC236}">
                <a16:creationId xmlns:a16="http://schemas.microsoft.com/office/drawing/2014/main" id="{8D7A544D-17E0-43AC-A769-0DC992E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Practical Impacts diagram with SDG targets</a:t>
            </a:r>
          </a:p>
        </p:txBody>
      </p:sp>
      <p:sp>
        <p:nvSpPr>
          <p:cNvPr id="34" name="real-world">
            <a:extLst xmlns:a="http://schemas.openxmlformats.org/drawingml/2006/main">
              <a:ext uri="{FF2B5EF4-FFF2-40B4-BE49-F238E27FC236}">
                <a16:creationId xmlns:a16="http://schemas.microsoft.com/office/drawing/2014/main" id="{2199F087-3016-48E4-80F0-4F875A7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906250"/>
            <a:ext cx="11049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/>
            </a:defPPr>
            <a:lvl1pPr>
              <a:defRPr sz="3000"/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 xmlns:a="http://schemas.openxmlformats.org/drawingml/2006/main">
            <a:pPr algn="l">
              <a:buNone/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3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5" name="interdisciplinary-heading">
            <a:extLst xmlns:a="http://schemas.openxmlformats.org/drawingml/2006/main">
              <a:ext uri="{FF2B5EF4-FFF2-40B4-BE49-F238E27FC236}">
                <a16:creationId xmlns:a16="http://schemas.microsoft.com/office/drawing/2014/main" id="{1E996ED0-A32A-4617-8E65-E6ED026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58115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/>
            </a:defPPr>
            <a:lvl1pPr>
              <a:defRPr sz="3225"/>
            </a:lvl1pPr>
            <a:lvl2pPr>
              <a:defRPr sz="3225"/>
            </a:lvl2pPr>
            <a:lvl3pPr>
              <a:defRPr sz="3225"/>
            </a:lvl3pPr>
            <a:lvl4pPr>
              <a:defRPr sz="3225"/>
            </a:lvl4pPr>
            <a:lvl5pPr>
              <a:defRPr sz="3225"/>
            </a:lvl5pPr>
            <a:lvl6pPr>
              <a:defRPr sz="3225"/>
            </a:lvl6pPr>
            <a:lvl7pPr>
              <a:defRPr sz="3225"/>
            </a:lvl7pPr>
            <a:lvl8pPr>
              <a:defRPr sz="3225"/>
            </a:lvl8pPr>
            <a:lvl9pPr>
              <a:defRPr sz="3225"/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Future Research Roadmap · new diagram</a:t>
            </a:r>
          </a:p>
        </p:txBody>
      </p:sp>
      <p:sp>
        <p:nvSpPr>
          <p:cNvPr id="36" name="interdisciplinary">
            <a:extLst xmlns:a="http://schemas.openxmlformats.org/drawingml/2006/main">
              <a:ext uri="{FF2B5EF4-FFF2-40B4-BE49-F238E27FC236}">
                <a16:creationId xmlns:a16="http://schemas.microsoft.com/office/drawing/2014/main" id="{91D1D813-AECB-4965-9667-285D2DDC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6573500"/>
            <a:ext cx="11049000" cy="523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/>
            </a:defPPr>
            <a:lvl1pPr>
              <a:defRPr sz="3000"/>
            </a:lvl1pPr>
            <a:lvl2pPr>
              <a:defRPr sz="3000"/>
            </a:lvl2pPr>
            <a:lvl3pPr>
              <a:defRPr sz="30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 xmlns:a="http://schemas.openxmlformats.org/drawingml/2006/main">
            <a:pPr algn="l">
              <a:buNone/>
              <a:defRPr sz="32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2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37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68ADFBED-634F-4EFD-A437-EF921500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193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/>
            </a:defPPr>
            <a:lvl1pPr>
              <a:defRPr sz="3225"/>
            </a:lvl1pPr>
            <a:lvl2pPr>
              <a:defRPr sz="3225"/>
            </a:lvl2pPr>
            <a:lvl3pPr>
              <a:defRPr sz="3225"/>
            </a:lvl3pPr>
            <a:lvl4pPr>
              <a:defRPr sz="3225"/>
            </a:lvl4pPr>
            <a:lvl5pPr>
              <a:defRPr sz="3225"/>
            </a:lvl5pPr>
            <a:lvl6pPr>
              <a:defRPr sz="3225"/>
            </a:lvl6pPr>
            <a:lvl7pPr>
              <a:defRPr sz="3225"/>
            </a:lvl7pPr>
            <a:lvl8pPr>
              <a:defRPr sz="3225"/>
            </a:lvl8pPr>
            <a:lvl9pPr>
              <a:defRPr sz="3225"/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Integration and named contribution</a:t>
            </a:r>
          </a:p>
        </p:txBody>
      </p:sp>
      <p:sp>
        <p:nvSpPr>
          <p:cNvPr id="38" name="limits">
            <a:extLst xmlns:a="http://schemas.openxmlformats.org/drawingml/2006/main">
              <a:ext uri="{FF2B5EF4-FFF2-40B4-BE49-F238E27FC236}">
                <a16:creationId xmlns:a16="http://schemas.microsoft.com/office/drawing/2014/main" id="{B297720D-E873-4F17-88AF-AF30E5F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907625"/>
            <a:ext cx="1104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/>
            </a:defPPr>
            <a:lvl1pPr>
              <a:defRPr sz="2700"/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Xinrong Sun: original access question; identified robot-specificity and telemetry challenges; directed manuscript, model, demo and poster revision. Reviewed earlier artifacts; final code checks recorded.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Economic utility changes both computation and prediction questions. No robot or human-study findings.</a:t>
            </a:r>
          </a:p>
        </p:txBody>
      </p:sp>
      <p:sp>
        <p:nvSpPr>
          <p:cNvPr id="39" name="dates">
            <a:extLst xmlns:a="http://schemas.openxmlformats.org/drawingml/2006/main">
              <a:ext uri="{FF2B5EF4-FFF2-40B4-BE49-F238E27FC236}">
                <a16:creationId xmlns:a16="http://schemas.microsoft.com/office/drawing/2014/main" id="{EA157D18-CC9B-4A0B-91A5-3BE26B8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53365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/>
            </a:defPPr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0663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6633"/>
                </a:solidFill>
                <a:latin typeface="Calibri"/>
                <a:ea typeface="Calibri"/>
                <a:cs typeface="Calibri"/>
              </a:rPr>
              <a:t>Feedback: Armory → narrow novelty; deadline challenge → test and refine verification boundary. Appendix D / G.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4CE48EC-E121-4C2A-81BE-8C70F6F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193750"/>
            <a:ext cx="4013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ck-heading">
            <a:extLst xmlns:a="http://schemas.openxmlformats.org/drawingml/2006/main">
              <a:ext uri="{FF2B5EF4-FFF2-40B4-BE49-F238E27FC236}">
                <a16:creationId xmlns:a16="http://schemas.microsoft.com/office/drawing/2014/main" id="{CC1B0A45-EEBC-4636-8C8B-F8804355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38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/>
            </a:defPPr>
            <a:lvl1pPr>
              <a:defRPr sz="2775"/>
            </a:lvl1pPr>
            <a:lvl2pPr>
              <a:defRPr sz="2775"/>
            </a:lvl2pPr>
            <a:lvl3pPr>
              <a:defRPr sz="2775"/>
            </a:lvl3pPr>
            <a:lvl4pPr>
              <a:defRPr sz="2775"/>
            </a:lvl4pPr>
            <a:lvl5pPr>
              <a:defRPr sz="2775"/>
            </a:lvl5pPr>
            <a:lvl6pPr>
              <a:defRPr sz="2775"/>
            </a:lvl6pPr>
            <a:lvl7pPr>
              <a:defRPr sz="2775"/>
            </a:lvl7pPr>
            <a:lvl8pPr>
              <a:defRPr sz="2775"/>
            </a:lvl8pPr>
            <a:lvl9pPr>
              <a:defRPr sz="2775"/>
            </a:lvl9pPr>
          </a:lstStyle>
          <a:p xmlns:a="http://schemas.openxmlformats.org/drawingml/2006/main">
            <a:pPr algn="l">
              <a:buNone/>
              <a:defRPr sz="27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Full acknowledgments</a:t>
            </a:r>
          </a:p>
        </p:txBody>
      </p:sp>
      <p:sp>
        <p:nvSpPr>
          <p:cNvPr id="42" name="ack">
            <a:extLst xmlns:a="http://schemas.openxmlformats.org/drawingml/2006/main">
              <a:ext uri="{FF2B5EF4-FFF2-40B4-BE49-F238E27FC236}">
                <a16:creationId xmlns:a16="http://schemas.microsoft.com/office/drawing/2014/main" id="{1C589FA2-42B8-4C7A-9C87-A446B78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051000"/>
            <a:ext cx="11430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/>
            </a:defPPr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Prof. Luyao Zhang for the course framework, project guidance and templates; Prof. Kenneth S. (Ken) Rogerson for feedback on improving the mechanism; and Han Zhang for sharing his project and urging us to distinguish robot inference from ordinary CPU allocation. Yiqiao Liu introduced Armory, challenged the novelty claim and proposed an equal-workload comparison through Ed and oral feedback; she also advised on referencing prior work in class. Xuantong Fu (FP3) identified the false-eligibility gain and called for reproducible, consistent artifacts. Muhan Chen provided oral and handwritten feedback. Tencent's Shanghai office provided the industry field-learning setting; the Shanghai Science and Technology Museum provided inspiration; and the COMSCI/ECON 206 classroom community enabled presentations and discussion. We credit Python, JavaScript, the course/ACM templates and cited research. Codex assisted revision and verification, as disclosed in Appendix A.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3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E7EA3AAE-744F-4F03-A737-D3056A0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6384250"/>
            <a:ext cx="1609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/>
            </a:defPPr>
            <a:lvl1pPr>
              <a:defRPr sz="2625"/>
            </a:lvl1pPr>
            <a:lvl2pPr>
              <a:defRPr sz="2625"/>
            </a:lvl2pPr>
            <a:lvl3pPr>
              <a:defRPr sz="2625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62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References · full entries and diagrams in Appendix G</a:t>
            </a:r>
          </a:p>
        </p:txBody>
      </p:sp>
      <p:sp>
        <p:nvSpPr>
          <p:cNvPr id="44" name="references">
            <a:extLst xmlns:a="http://schemas.openxmlformats.org/drawingml/2006/main">
              <a:ext uri="{FF2B5EF4-FFF2-40B4-BE49-F238E27FC236}">
                <a16:creationId xmlns:a16="http://schemas.microsoft.com/office/drawing/2014/main" id="{0ECEF328-5F03-4179-A929-2458DB1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7051000"/>
            <a:ext cx="160972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/>
            </a:defPPr>
            <a:lvl1pPr>
              <a:defRPr sz="1875"/>
            </a:lvl1pPr>
            <a:lvl2pPr>
              <a:defRPr sz="1875"/>
            </a:lvl2pPr>
            <a:lvl3pPr>
              <a:defRPr sz="1875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[1] Kevin Black, Manuel Y. Galliker, Sergey Levine (2025). Real-Time Execution of Action Chunking Flow Policies. NeurIPS. doi:10.48550/arXiv.2506.07339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[2] Rohan Bansal, David He, Nadun Ranawaka Arachchige, Zhenyang Chen, Soobum Kim, Kexin Rong, Danfei Xu (2026). Action Chunk Scheduling for Batched Robot Policy Serving. doi:10.48550/arXiv.2608.00337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[3] Kshiteej Mahajan, Arjun Balasubramanian, Arjun Singhvi, Shivaram Venkataraman, Aditya Akella, Amar Phanishayee, Shuchi Chawla (2020). Themis: Fair and Efficient GPU Cluster Scheduling. NSDI, 289–304. usenix.org/conference/nsdi20/presentation/mahajan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[4] Hassidim, Marciano, Romm &amp; Shorrer (2017). The Mechanism Is Truthful, Why Aren’t You? AER 107(5), 220–224. doi:10.1257/aer.p20171027</a:t>
            </a:r>
          </a:p>
        </p:txBody>
      </p:sp>
      <p:sp>
        <p:nvSpPr>
          <p:cNvPr id="45" name="access-heading">
            <a:extLst xmlns:a="http://schemas.openxmlformats.org/drawingml/2006/main">
              <a:ext uri="{FF2B5EF4-FFF2-40B4-BE49-F238E27FC236}">
                <a16:creationId xmlns:a16="http://schemas.microsoft.com/office/drawing/2014/main" id="{49F540C3-5DD7-4CE8-9BCD-20A72A4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63842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/>
            </a:defPPr>
            <a:lvl1pPr>
              <a:defRPr sz="2325"/>
            </a:lvl1pPr>
            <a:lvl2pPr>
              <a:defRPr sz="2325"/>
            </a:lvl2pPr>
            <a:lvl3pPr>
              <a:defRPr sz="2325"/>
            </a:lvl3pPr>
            <a:lvl4pPr>
              <a:defRPr sz="2325"/>
            </a:lvl4pPr>
            <a:lvl5pPr>
              <a:defRPr sz="2325"/>
            </a:lvl5pPr>
            <a:lvl6pPr>
              <a:defRPr sz="2325"/>
            </a:lvl6pPr>
            <a:lvl7pPr>
              <a:defRPr sz="2325"/>
            </a:lvl7pPr>
            <a:lvl8pPr>
              <a:defRPr sz="2325"/>
            </a:lvl8pPr>
            <a:lvl9pPr>
              <a:defRPr sz="2325"/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OPEN MATERIALS · final-fp9-2026-10-21</a:t>
            </a:r>
          </a:p>
        </p:txBody>
      </p:sp>
      <p:sp>
        <p:nvSpPr>
          <p:cNvPr id="46" name="access-links">
            <a:extLst xmlns:a="http://schemas.openxmlformats.org/drawingml/2006/main">
              <a:ext uri="{FF2B5EF4-FFF2-40B4-BE49-F238E27FC236}">
                <a16:creationId xmlns:a16="http://schemas.microsoft.com/office/drawing/2014/main" id="{35C264DA-792D-48F7-AE3C-F21A5E9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7051000"/>
            <a:ext cx="11049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/>
            </a:defPPr>
            <a:lvl1pPr>
              <a:defRPr sz="2025"/>
            </a:lvl1pPr>
            <a:lvl2pPr>
              <a:defRPr sz="2025"/>
            </a:lvl2pPr>
            <a:lvl3pPr>
              <a:defRPr sz="2025"/>
            </a:lvl3pPr>
            <a:lvl4pPr>
              <a:defRPr sz="2025"/>
            </a:lvl4pPr>
            <a:lvl5pPr>
              <a:defRPr sz="2025"/>
            </a:lvl5pPr>
            <a:lvl6pPr>
              <a:defRPr sz="2025"/>
            </a:lvl6pPr>
            <a:lvl7pPr>
              <a:defRPr sz="2025"/>
            </a:lvl7pPr>
            <a:lvl8pPr>
              <a:defRPr sz="2025"/>
            </a:lvl8pPr>
            <a:lvl9pPr>
              <a:defRPr sz="2025"/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github.com/dku-comsci-econ206-Autumn2026/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-PS2-FP9-ComputeCommons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huggingface.co/spaces/dku-comsci-econ206-2026/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compute-commons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Notebook + source hashes + response: repository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Official SDG source: sdgs.un.org/goals/goal4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12A33"/>
                </a:solidFill>
                <a:latin typeface="Calibri"/>
                <a:ea typeface="Calibri"/>
                <a:cs typeface="Calibri"/>
              </a:rPr>
              <a:t>The content of this publication has not been approved by the United Nations and does not reflect the views of the United Nations or its officials or Member States.</a:t>
            </a:r>
          </a:p>
        </p:txBody>
      </p:sp>
      <p:sp>
        <p:nvSpPr>
          <p:cNvPr id="47" name="hf-qr-placeholder">
            <a:extLst xmlns:a="http://schemas.openxmlformats.org/drawingml/2006/main">
              <a:ext uri="{FF2B5EF4-FFF2-40B4-BE49-F238E27FC236}">
                <a16:creationId xmlns:a16="http://schemas.microsoft.com/office/drawing/2014/main" id="{296FE813-8DC2-4185-ADA6-A77390D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48" name="hf-qr-label">
            <a:extLst xmlns:a="http://schemas.openxmlformats.org/drawingml/2006/main">
              <a:ext uri="{FF2B5EF4-FFF2-40B4-BE49-F238E27FC236}">
                <a16:creationId xmlns:a16="http://schemas.microsoft.com/office/drawing/2014/main" id="{E242BD6C-81B6-4B83-927B-ABE99A7D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8800" y="28508325"/>
            <a:ext cx="742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9" name="github-qr-placeholder">
            <a:extLst xmlns:a="http://schemas.openxmlformats.org/drawingml/2006/main">
              <a:ext uri="{FF2B5EF4-FFF2-40B4-BE49-F238E27FC236}">
                <a16:creationId xmlns:a16="http://schemas.microsoft.com/office/drawing/2014/main" id="{63890B80-6191-47DE-888B-3D958CC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50" name="github-qr-label">
            <a:extLst xmlns:a="http://schemas.openxmlformats.org/drawingml/2006/main">
              <a:ext uri="{FF2B5EF4-FFF2-40B4-BE49-F238E27FC236}">
                <a16:creationId xmlns:a16="http://schemas.microsoft.com/office/drawing/2014/main" id="{ADAD9B08-81E1-4FA5-99E7-6DC63E0C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8000" y="28508325"/>
            <a:ext cx="85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51" name="format-note">
            <a:extLst xmlns:a="http://schemas.openxmlformats.org/drawingml/2006/main">
              <a:ext uri="{FF2B5EF4-FFF2-40B4-BE49-F238E27FC236}">
                <a16:creationId xmlns:a16="http://schemas.microsoft.com/office/drawing/2014/main" id="{49DEC60E-E378-41A7-B1C9-EC4712C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00750"/>
            <a:ext cx="2857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6616B"/>
                </a:solidFill>
                <a:latin typeface="Calibri"/>
                <a:ea typeface="Calibri"/>
                <a:cs typeface="Calibri"/>
              </a:rPr>
              <a:t>Synthetic evidence · Final project · final-fp9-2026-10-21</a:t>
            </a:r>
          </a:p>
        </p:txBody>
      </p:sp>
      <p:sp>
        <p:nvSpPr>
          <p:cNvPr id="59" name="foundation">
            <a:extLst xmlns:a="http://schemas.openxmlformats.org/drawingml/2006/main">
              <a:ext uri="{FF2B5EF4-FFF2-40B4-BE49-F238E27FC236}">
                <a16:creationId xmlns:a16="http://schemas.microsoft.com/office/drawing/2014/main" id="{1F46E6C1-A883-45F0-8791-6DC8BA40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1811000"/>
            <a:ext cx="4476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>
                <a:solidFill>
                  <a:srgbClr val="003399"/>
                </a:solidFill>
              </a:defRPr>
            </a:defPPr>
            <a:lvl1pPr algn="ctr">
              <a:defRPr sz="2700">
                <a:solidFill>
                  <a:srgbClr val="003399"/>
                </a:solidFill>
              </a:defRPr>
            </a:lvl1pPr>
            <a:lvl2pPr algn="ctr">
              <a:defRPr sz="2700">
                <a:solidFill>
                  <a:srgbClr val="003399"/>
                </a:solidFill>
              </a:defRPr>
            </a:lvl2pPr>
            <a:lvl3pPr algn="ctr">
              <a:defRPr sz="2700">
                <a:solidFill>
                  <a:srgbClr val="003399"/>
                </a:solidFill>
              </a:defRPr>
            </a:lvl3pPr>
            <a:lvl4pPr algn="ctr">
              <a:defRPr sz="2700">
                <a:solidFill>
                  <a:srgbClr val="003399"/>
                </a:solidFill>
              </a:defRPr>
            </a:lvl4pPr>
            <a:lvl5pPr algn="ctr">
              <a:defRPr sz="2700">
                <a:solidFill>
                  <a:srgbClr val="003399"/>
                </a:solidFill>
              </a:defRPr>
            </a:lvl5pPr>
            <a:lvl6pPr algn="ctr">
              <a:defRPr sz="2700">
                <a:solidFill>
                  <a:srgbClr val="003399"/>
                </a:solidFill>
              </a:defRPr>
            </a:lvl6pPr>
            <a:lvl7pPr algn="ctr">
              <a:defRPr sz="2700">
                <a:solidFill>
                  <a:srgbClr val="003399"/>
                </a:solidFill>
              </a:defRPr>
            </a:lvl7pPr>
            <a:lvl8pPr algn="ctr">
              <a:defRPr sz="2700">
                <a:solidFill>
                  <a:srgbClr val="003399"/>
                </a:solidFill>
              </a:defRPr>
            </a:lvl8pPr>
            <a:lvl9pPr algn="ctr">
              <a:defRPr sz="2700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 algn="ctr">
              <a:defRPr sz="2700">
                <a:solidFill>
                  <a:srgbClr val="003399"/>
                </a:solidFill>
              </a:defRPr>
            </a:pPr>
            <a:r>
              <a:rPr sz="2700">
                <a:solidFill>
                  <a:srgbClr val="003399"/>
                </a:solidFill>
              </a:rPr>
              <a:t>INHERITED</a:t>
            </a:r>
          </a:p>
          <a:p xmlns:a="http://schemas.openxmlformats.org/drawingml/2006/main">
            <a:pPr algn="ctr">
              <a:defRPr sz="2700">
                <a:solidFill>
                  <a:srgbClr val="003399"/>
                </a:solidFill>
              </a:defRPr>
            </a:pPr>
            <a:r>
              <a:rPr sz="2700">
                <a:solidFill>
                  <a:srgbClr val="003399"/>
                </a:solidFill>
              </a:rPr>
              <a:t>RTC: delayed actions</a:t>
            </a:r>
          </a:p>
          <a:p xmlns:a="http://schemas.openxmlformats.org/drawingml/2006/main">
            <a:pPr algn="ctr">
              <a:defRPr sz="2700">
                <a:solidFill>
                  <a:srgbClr val="003399"/>
                </a:solidFill>
              </a:defRPr>
            </a:pPr>
            <a:r>
              <a:rPr sz="2700">
                <a:solidFill>
                  <a:srgbClr val="003399"/>
                </a:solidFill>
              </a:rPr>
              <a:t>Armory: batching</a:t>
            </a:r>
          </a:p>
          <a:p xmlns:a="http://schemas.openxmlformats.org/drawingml/2006/main">
            <a:pPr algn="ctr">
              <a:defRPr sz="2700">
                <a:solidFill>
                  <a:srgbClr val="003399"/>
                </a:solidFill>
              </a:defRPr>
            </a:pPr>
            <a:r>
              <a:rPr sz="2700">
                <a:solidFill>
                  <a:srgbClr val="003399"/>
                </a:solidFill>
              </a:rPr>
              <a:t>Themis: GPU fairness</a:t>
            </a:r>
          </a:p>
        </p:txBody>
      </p:sp>
      <p:sp>
        <p:nvSpPr>
          <p:cNvPr id="60" name="arrow1">
            <a:extLst xmlns:a="http://schemas.openxmlformats.org/drawingml/2006/main">
              <a:ext uri="{FF2B5EF4-FFF2-40B4-BE49-F238E27FC236}">
                <a16:creationId xmlns:a16="http://schemas.microsoft.com/office/drawing/2014/main" id="{48033BF3-C477-4C35-9569-73247AE0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25" y="128587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650" b="1">
                <a:solidFill>
                  <a:srgbClr val="006633"/>
                </a:solidFill>
              </a:defRPr>
            </a:defPPr>
            <a:lvl1pPr>
              <a:defRPr sz="4650" b="1">
                <a:solidFill>
                  <a:srgbClr val="006633"/>
                </a:solidFill>
              </a:defRPr>
            </a:lvl1pPr>
            <a:lvl2pPr>
              <a:defRPr sz="4650" b="1">
                <a:solidFill>
                  <a:srgbClr val="006633"/>
                </a:solidFill>
              </a:defRPr>
            </a:lvl2pPr>
            <a:lvl3pPr>
              <a:defRPr sz="4650" b="1">
                <a:solidFill>
                  <a:srgbClr val="006633"/>
                </a:solidFill>
              </a:defRPr>
            </a:lvl3pPr>
            <a:lvl4pPr>
              <a:defRPr sz="4650" b="1">
                <a:solidFill>
                  <a:srgbClr val="006633"/>
                </a:solidFill>
              </a:defRPr>
            </a:lvl4pPr>
            <a:lvl5pPr>
              <a:defRPr sz="4650" b="1">
                <a:solidFill>
                  <a:srgbClr val="006633"/>
                </a:solidFill>
              </a:defRPr>
            </a:lvl5pPr>
            <a:lvl6pPr>
              <a:defRPr sz="4650" b="1">
                <a:solidFill>
                  <a:srgbClr val="006633"/>
                </a:solidFill>
              </a:defRPr>
            </a:lvl6pPr>
            <a:lvl7pPr>
              <a:defRPr sz="4650" b="1">
                <a:solidFill>
                  <a:srgbClr val="006633"/>
                </a:solidFill>
              </a:defRPr>
            </a:lvl7pPr>
            <a:lvl8pPr>
              <a:defRPr sz="4650" b="1">
                <a:solidFill>
                  <a:srgbClr val="006633"/>
                </a:solidFill>
              </a:defRPr>
            </a:lvl8pPr>
            <a:lvl9pPr>
              <a:defRPr sz="4650" b="1">
                <a:solidFill>
                  <a:srgbClr val="006633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006633"/>
                </a:solidFill>
              </a:defRPr>
            </a:pPr>
            <a:r>
              <a:rPr sz="4650" b="1">
                <a:solidFill>
                  <a:srgbClr val="006633"/>
                </a:solidFill>
              </a:rPr>
              <a:t>→</a:t>
            </a:r>
          </a:p>
        </p:txBody>
      </p:sp>
      <p:sp>
        <p:nvSpPr>
          <p:cNvPr id="61" name="contribution">
            <a:extLst xmlns:a="http://schemas.openxmlformats.org/drawingml/2006/main">
              <a:ext uri="{FF2B5EF4-FFF2-40B4-BE49-F238E27FC236}">
                <a16:creationId xmlns:a16="http://schemas.microsoft.com/office/drawing/2014/main" id="{CABC8542-B4E5-4F63-ABF2-D2D0EA37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125" y="11811000"/>
            <a:ext cx="4476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>
                <a:solidFill>
                  <a:srgbClr val="003399"/>
                </a:solidFill>
              </a:defRPr>
            </a:defPPr>
            <a:lvl1pPr algn="ctr">
              <a:defRPr sz="2700">
                <a:solidFill>
                  <a:srgbClr val="003399"/>
                </a:solidFill>
              </a:defRPr>
            </a:lvl1pPr>
            <a:lvl2pPr algn="ctr">
              <a:defRPr sz="2700">
                <a:solidFill>
                  <a:srgbClr val="003399"/>
                </a:solidFill>
              </a:defRPr>
            </a:lvl2pPr>
            <a:lvl3pPr algn="ctr">
              <a:defRPr sz="2700">
                <a:solidFill>
                  <a:srgbClr val="003399"/>
                </a:solidFill>
              </a:defRPr>
            </a:lvl3pPr>
            <a:lvl4pPr algn="ctr">
              <a:defRPr sz="2700">
                <a:solidFill>
                  <a:srgbClr val="003399"/>
                </a:solidFill>
              </a:defRPr>
            </a:lvl4pPr>
            <a:lvl5pPr algn="ctr">
              <a:defRPr sz="2700">
                <a:solidFill>
                  <a:srgbClr val="003399"/>
                </a:solidFill>
              </a:defRPr>
            </a:lvl5pPr>
            <a:lvl6pPr algn="ctr">
              <a:defRPr sz="2700">
                <a:solidFill>
                  <a:srgbClr val="003399"/>
                </a:solidFill>
              </a:defRPr>
            </a:lvl6pPr>
            <a:lvl7pPr algn="ctr">
              <a:defRPr sz="2700">
                <a:solidFill>
                  <a:srgbClr val="003399"/>
                </a:solidFill>
              </a:defRPr>
            </a:lvl7pPr>
            <a:lvl8pPr algn="ctr">
              <a:defRPr sz="2700">
                <a:solidFill>
                  <a:srgbClr val="003399"/>
                </a:solidFill>
              </a:defRPr>
            </a:lvl8pPr>
            <a:lvl9pPr algn="ctr">
              <a:defRPr sz="2700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 algn="ctr">
              <a:defRPr sz="2700">
                <a:solidFill>
                  <a:srgbClr val="003399"/>
                </a:solidFill>
              </a:defRPr>
            </a:pPr>
            <a:r>
              <a:rPr sz="2700">
                <a:solidFill>
                  <a:srgbClr val="003399"/>
                </a:solidFill>
              </a:rPr>
              <a:t>CONTRIBUTION</a:t>
            </a:r>
          </a:p>
          <a:p xmlns:a="http://schemas.openxmlformats.org/drawingml/2006/main">
            <a:pPr algn="ctr">
              <a:defRPr sz="2700">
                <a:solidFill>
                  <a:srgbClr val="003399"/>
                </a:solidFill>
              </a:defRPr>
            </a:pPr>
            <a:r>
              <a:rPr sz="2700">
                <a:solidFill>
                  <a:srgbClr val="003399"/>
                </a:solidFill>
              </a:rPr>
              <a:t>Usable-service utility</a:t>
            </a:r>
          </a:p>
          <a:p xmlns:a="http://schemas.openxmlformats.org/drawingml/2006/main">
            <a:pPr algn="ctr">
              <a:defRPr sz="2700">
                <a:solidFill>
                  <a:srgbClr val="003399"/>
                </a:solidFill>
              </a:defRPr>
            </a:pPr>
            <a:r>
              <a:rPr sz="2700">
                <a:solidFill>
                  <a:srgbClr val="003399"/>
                </a:solidFill>
              </a:rPr>
              <a:t>Entry/value trade-off</a:t>
            </a:r>
          </a:p>
          <a:p xmlns:a="http://schemas.openxmlformats.org/drawingml/2006/main">
            <a:pPr algn="ctr">
              <a:defRPr sz="2700">
                <a:solidFill>
                  <a:srgbClr val="003399"/>
                </a:solidFill>
              </a:defRPr>
            </a:pPr>
            <a:r>
              <a:rPr sz="2700">
                <a:solidFill>
                  <a:srgbClr val="003399"/>
                </a:solidFill>
              </a:rPr>
              <a:t>Telemetry boundary</a:t>
            </a:r>
          </a:p>
        </p:txBody>
      </p:sp>
      <p:sp>
        <p:nvSpPr>
          <p:cNvPr id="62" name="arrow2">
            <a:extLst xmlns:a="http://schemas.openxmlformats.org/drawingml/2006/main">
              <a:ext uri="{FF2B5EF4-FFF2-40B4-BE49-F238E27FC236}">
                <a16:creationId xmlns:a16="http://schemas.microsoft.com/office/drawing/2014/main" id="{17A719F6-BE63-4878-A3B2-C70EB3CA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0" y="128587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650" b="1">
                <a:solidFill>
                  <a:srgbClr val="006633"/>
                </a:solidFill>
              </a:defRPr>
            </a:defPPr>
            <a:lvl1pPr>
              <a:defRPr sz="4650" b="1">
                <a:solidFill>
                  <a:srgbClr val="006633"/>
                </a:solidFill>
              </a:defRPr>
            </a:lvl1pPr>
            <a:lvl2pPr>
              <a:defRPr sz="4650" b="1">
                <a:solidFill>
                  <a:srgbClr val="006633"/>
                </a:solidFill>
              </a:defRPr>
            </a:lvl2pPr>
            <a:lvl3pPr>
              <a:defRPr sz="4650" b="1">
                <a:solidFill>
                  <a:srgbClr val="006633"/>
                </a:solidFill>
              </a:defRPr>
            </a:lvl3pPr>
            <a:lvl4pPr>
              <a:defRPr sz="4650" b="1">
                <a:solidFill>
                  <a:srgbClr val="006633"/>
                </a:solidFill>
              </a:defRPr>
            </a:lvl4pPr>
            <a:lvl5pPr>
              <a:defRPr sz="4650" b="1">
                <a:solidFill>
                  <a:srgbClr val="006633"/>
                </a:solidFill>
              </a:defRPr>
            </a:lvl5pPr>
            <a:lvl6pPr>
              <a:defRPr sz="4650" b="1">
                <a:solidFill>
                  <a:srgbClr val="006633"/>
                </a:solidFill>
              </a:defRPr>
            </a:lvl6pPr>
            <a:lvl7pPr>
              <a:defRPr sz="4650" b="1">
                <a:solidFill>
                  <a:srgbClr val="006633"/>
                </a:solidFill>
              </a:defRPr>
            </a:lvl7pPr>
            <a:lvl8pPr>
              <a:defRPr sz="4650" b="1">
                <a:solidFill>
                  <a:srgbClr val="006633"/>
                </a:solidFill>
              </a:defRPr>
            </a:lvl8pPr>
            <a:lvl9pPr>
              <a:defRPr sz="4650" b="1">
                <a:solidFill>
                  <a:srgbClr val="006633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006633"/>
                </a:solidFill>
              </a:defRPr>
            </a:pPr>
            <a:r>
              <a:rPr sz="4650" b="1">
                <a:solidFill>
                  <a:srgbClr val="006633"/>
                </a:solidFill>
              </a:rPr>
              <a:t>→</a:t>
            </a:r>
          </a:p>
        </p:txBody>
      </p:sp>
      <p:sp>
        <p:nvSpPr>
          <p:cNvPr id="63" name="evidence">
            <a:extLst xmlns:a="http://schemas.openxmlformats.org/drawingml/2006/main">
              <a:ext uri="{FF2B5EF4-FFF2-40B4-BE49-F238E27FC236}">
                <a16:creationId xmlns:a16="http://schemas.microsoft.com/office/drawing/2014/main" id="{D9C6083E-90D6-4B05-9678-75D87D4D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0" y="11811000"/>
            <a:ext cx="4191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>
                <a:solidFill>
                  <a:srgbClr val="003399"/>
                </a:solidFill>
              </a:defRPr>
            </a:defPPr>
            <a:lvl1pPr algn="ctr">
              <a:defRPr sz="2700">
                <a:solidFill>
                  <a:srgbClr val="003399"/>
                </a:solidFill>
              </a:defRPr>
            </a:lvl1pPr>
            <a:lvl2pPr algn="ctr">
              <a:defRPr sz="2700">
                <a:solidFill>
                  <a:srgbClr val="003399"/>
                </a:solidFill>
              </a:defRPr>
            </a:lvl2pPr>
            <a:lvl3pPr algn="ctr">
              <a:defRPr sz="2700">
                <a:solidFill>
                  <a:srgbClr val="003399"/>
                </a:solidFill>
              </a:defRPr>
            </a:lvl3pPr>
            <a:lvl4pPr algn="ctr">
              <a:defRPr sz="2700">
                <a:solidFill>
                  <a:srgbClr val="003399"/>
                </a:solidFill>
              </a:defRPr>
            </a:lvl4pPr>
            <a:lvl5pPr algn="ctr">
              <a:defRPr sz="2700">
                <a:solidFill>
                  <a:srgbClr val="003399"/>
                </a:solidFill>
              </a:defRPr>
            </a:lvl5pPr>
            <a:lvl6pPr algn="ctr">
              <a:defRPr sz="2700">
                <a:solidFill>
                  <a:srgbClr val="003399"/>
                </a:solidFill>
              </a:defRPr>
            </a:lvl6pPr>
            <a:lvl7pPr algn="ctr">
              <a:defRPr sz="2700">
                <a:solidFill>
                  <a:srgbClr val="003399"/>
                </a:solidFill>
              </a:defRPr>
            </a:lvl7pPr>
            <a:lvl8pPr algn="ctr">
              <a:defRPr sz="2700">
                <a:solidFill>
                  <a:srgbClr val="003399"/>
                </a:solidFill>
              </a:defRPr>
            </a:lvl8pPr>
            <a:lvl9pPr algn="ctr">
              <a:defRPr sz="2700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 algn="ctr">
              <a:defRPr sz="2700">
                <a:solidFill>
                  <a:srgbClr val="003399"/>
                </a:solidFill>
              </a:defRPr>
            </a:pPr>
            <a:r>
              <a:rPr sz="2700">
                <a:solidFill>
                  <a:srgbClr val="003399"/>
                </a:solidFill>
              </a:rPr>
              <a:t>EVIDENCE</a:t>
            </a:r>
          </a:p>
          <a:p xmlns:a="http://schemas.openxmlformats.org/drawingml/2006/main">
            <a:pPr algn="ctr">
              <a:defRPr sz="2700">
                <a:solidFill>
                  <a:srgbClr val="003399"/>
                </a:solidFill>
              </a:defRPr>
            </a:pPr>
            <a:r>
              <a:rPr sz="2700">
                <a:solidFill>
                  <a:srgbClr val="003399"/>
                </a:solidFill>
              </a:rPr>
              <a:t>State ablations</a:t>
            </a:r>
          </a:p>
          <a:p xmlns:a="http://schemas.openxmlformats.org/drawingml/2006/main">
            <a:pPr algn="ctr">
              <a:defRPr sz="2700">
                <a:solidFill>
                  <a:srgbClr val="003399"/>
                </a:solidFill>
              </a:defRPr>
            </a:pPr>
            <a:r>
              <a:rPr sz="2700">
                <a:solidFill>
                  <a:srgbClr val="003399"/>
                </a:solidFill>
              </a:rPr>
              <a:t>300 paired batches</a:t>
            </a:r>
          </a:p>
          <a:p xmlns:a="http://schemas.openxmlformats.org/drawingml/2006/main">
            <a:pPr algn="ctr">
              <a:defRPr sz="2700">
                <a:solidFill>
                  <a:srgbClr val="003399"/>
                </a:solidFill>
              </a:defRPr>
            </a:pPr>
            <a:r>
              <a:rPr sz="2700">
                <a:solidFill>
                  <a:srgbClr val="003399"/>
                </a:solidFill>
              </a:rPr>
              <a:t>Duration gain: 8</a:t>
            </a:r>
          </a:p>
        </p:txBody>
      </p:sp>
      <p:graphicFrame>
        <p:nvGraphicFrame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10D0D74-D99C-4A1B-BCBF-CEA51478BE42}"/>
              </a:ext>
            </a:extLst>
          </p:cNvPr>
          <p:cNvGraphicFramePr/>
          <p:nvPr/>
        </p:nvGraphicFramePr>
        <p:xfrm>
          <a:off xmlns:a="http://schemas.openxmlformats.org/drawingml/2006/main" x="13811250" y="18097500"/>
          <a:ext xmlns:a="http://schemas.openxmlformats.org/drawingml/2006/main" cx="15144750" cy="533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476500"/>
                <a:gridCol w="3143250"/>
                <a:gridCol w="2667000"/>
                <a:gridCol w="2952750"/>
              </a:tblGrid>
              <a:tr h="762000">
                <a:tc>
                  <a:txBody>
                    <a:bodyPr/>
                    <a:lstStyle/>
                    <a:p>
                      <a:r>
                        <a:rPr sz="2850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L="91440" marR="91440" marT="45720" marB="45720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1">
                          <a:solidFill>
                            <a:srgbClr val="FFFFFF"/>
                          </a:solidFill>
                        </a:rPr>
                        <a:t>Winners</a:t>
                      </a:r>
                    </a:p>
                  </a:txBody>
                  <a:tcPr marL="91440" marR="91440" marT="45720" marB="45720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1">
                          <a:solidFill>
                            <a:srgbClr val="FFFFFF"/>
                          </a:solidFill>
                        </a:rPr>
                        <a:t>Payments</a:t>
                      </a:r>
                    </a:p>
                  </a:txBody>
                  <a:tcPr marL="91440" marR="91440" marT="45720" marB="45720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 marL="91440" marR="91440" marT="45720" marB="45720">
                    <a:solidFill>
                      <a:srgbClr val="00339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Capacity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A,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8, 8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EDF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A, D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0, 0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Feasible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A, 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9, 6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Credit 3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A, E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9, 5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Reserve 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Both: c=5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50" b="0">
                          <a:solidFill>
                            <a:srgbClr val="212A33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5" name="impact1">
            <a:extLst xmlns:a="http://schemas.openxmlformats.org/drawingml/2006/main">
              <a:ext uri="{FF2B5EF4-FFF2-40B4-BE49-F238E27FC236}">
                <a16:creationId xmlns:a16="http://schemas.microsoft.com/office/drawing/2014/main" id="{095F4E64-C1B7-4D9B-A83A-4BC82E83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0" y="11906250"/>
            <a:ext cx="4857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6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75">
                <a:solidFill>
                  <a:srgbClr val="006633"/>
                </a:solidFill>
              </a:defRPr>
            </a:defPPr>
            <a:lvl1pPr algn="ctr">
              <a:defRPr sz="2775">
                <a:solidFill>
                  <a:srgbClr val="006633"/>
                </a:solidFill>
              </a:defRPr>
            </a:lvl1pPr>
            <a:lvl2pPr algn="ctr">
              <a:defRPr sz="2775">
                <a:solidFill>
                  <a:srgbClr val="006633"/>
                </a:solidFill>
              </a:defRPr>
            </a:lvl2pPr>
            <a:lvl3pPr algn="ctr">
              <a:defRPr sz="2775">
                <a:solidFill>
                  <a:srgbClr val="006633"/>
                </a:solidFill>
              </a:defRPr>
            </a:lvl3pPr>
            <a:lvl4pPr algn="ctr">
              <a:defRPr sz="2775">
                <a:solidFill>
                  <a:srgbClr val="006633"/>
                </a:solidFill>
              </a:defRPr>
            </a:lvl4pPr>
            <a:lvl5pPr algn="ctr">
              <a:defRPr sz="2775">
                <a:solidFill>
                  <a:srgbClr val="006633"/>
                </a:solidFill>
              </a:defRPr>
            </a:lvl5pPr>
            <a:lvl6pPr algn="ctr">
              <a:defRPr sz="2775">
                <a:solidFill>
                  <a:srgbClr val="006633"/>
                </a:solidFill>
              </a:defRPr>
            </a:lvl6pPr>
            <a:lvl7pPr algn="ctr">
              <a:defRPr sz="2775">
                <a:solidFill>
                  <a:srgbClr val="006633"/>
                </a:solidFill>
              </a:defRPr>
            </a:lvl7pPr>
            <a:lvl8pPr algn="ctr">
              <a:defRPr sz="2775">
                <a:solidFill>
                  <a:srgbClr val="006633"/>
                </a:solidFill>
              </a:defRPr>
            </a:lvl8pPr>
            <a:lvl9pPr algn="ctr">
              <a:defRPr sz="2775">
                <a:solidFill>
                  <a:srgbClr val="006633"/>
                </a:solidFill>
              </a:defRPr>
            </a:lvl9pPr>
          </a:lstStyle>
          <a:p xmlns:a="http://schemas.openxmlformats.org/drawingml/2006/main">
            <a:pPr algn="ctr">
              <a:defRPr sz="2775">
                <a:solidFill>
                  <a:srgbClr val="006633"/>
                </a:solidFill>
              </a:defRPr>
            </a:pPr>
            <a:r>
              <a:rPr sz="2775">
                <a:solidFill>
                  <a:srgbClr val="006633"/>
                </a:solidFill>
              </a:rPr>
              <a:t>Verified admission</a:t>
            </a:r>
          </a:p>
          <a:p xmlns:a="http://schemas.openxmlformats.org/drawingml/2006/main">
            <a:pPr algn="ctr">
              <a:defRPr sz="2775">
                <a:solidFill>
                  <a:srgbClr val="006633"/>
                </a:solidFill>
              </a:defRPr>
            </a:pPr>
            <a:r>
              <a:rPr sz="2775">
                <a:solidFill>
                  <a:srgbClr val="006633"/>
                </a:solidFill>
              </a:rPr>
              <a:t>+ transparent credits</a:t>
            </a:r>
          </a:p>
        </p:txBody>
      </p:sp>
      <p:sp>
        <p:nvSpPr>
          <p:cNvPr id="66" name="impactArrow">
            <a:extLst xmlns:a="http://schemas.openxmlformats.org/drawingml/2006/main">
              <a:ext uri="{FF2B5EF4-FFF2-40B4-BE49-F238E27FC236}">
                <a16:creationId xmlns:a16="http://schemas.microsoft.com/office/drawing/2014/main" id="{8863AD5C-4173-40C5-AAEA-C8A296F0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0" y="12001500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006633"/>
                </a:solidFill>
              </a:defRPr>
            </a:defPPr>
            <a:lvl1pPr>
              <a:defRPr sz="3900" b="1">
                <a:solidFill>
                  <a:srgbClr val="006633"/>
                </a:solidFill>
              </a:defRPr>
            </a:lvl1pPr>
            <a:lvl2pPr>
              <a:defRPr sz="3900" b="1">
                <a:solidFill>
                  <a:srgbClr val="006633"/>
                </a:solidFill>
              </a:defRPr>
            </a:lvl2pPr>
            <a:lvl3pPr>
              <a:defRPr sz="3900" b="1">
                <a:solidFill>
                  <a:srgbClr val="006633"/>
                </a:solidFill>
              </a:defRPr>
            </a:lvl3pPr>
            <a:lvl4pPr>
              <a:defRPr sz="3900" b="1">
                <a:solidFill>
                  <a:srgbClr val="006633"/>
                </a:solidFill>
              </a:defRPr>
            </a:lvl4pPr>
            <a:lvl5pPr>
              <a:defRPr sz="3900" b="1">
                <a:solidFill>
                  <a:srgbClr val="006633"/>
                </a:solidFill>
              </a:defRPr>
            </a:lvl5pPr>
            <a:lvl6pPr>
              <a:defRPr sz="3900" b="1">
                <a:solidFill>
                  <a:srgbClr val="006633"/>
                </a:solidFill>
              </a:defRPr>
            </a:lvl6pPr>
            <a:lvl7pPr>
              <a:defRPr sz="3900" b="1">
                <a:solidFill>
                  <a:srgbClr val="006633"/>
                </a:solidFill>
              </a:defRPr>
            </a:lvl7pPr>
            <a:lvl8pPr>
              <a:defRPr sz="3900" b="1">
                <a:solidFill>
                  <a:srgbClr val="006633"/>
                </a:solidFill>
              </a:defRPr>
            </a:lvl8pPr>
            <a:lvl9pPr>
              <a:defRPr sz="3900" b="1">
                <a:solidFill>
                  <a:srgbClr val="006633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06633"/>
                </a:solidFill>
              </a:defRPr>
            </a:pPr>
            <a:r>
              <a:rPr sz="3900" b="1">
                <a:solidFill>
                  <a:srgbClr val="006633"/>
                </a:solidFill>
              </a:rPr>
              <a:t>→</a:t>
            </a:r>
          </a:p>
        </p:txBody>
      </p:sp>
      <p:sp>
        <p:nvSpPr>
          <p:cNvPr id="67" name="impact2">
            <a:extLst xmlns:a="http://schemas.openxmlformats.org/drawingml/2006/main">
              <a:ext uri="{FF2B5EF4-FFF2-40B4-BE49-F238E27FC236}">
                <a16:creationId xmlns:a16="http://schemas.microsoft.com/office/drawing/2014/main" id="{5BBAC768-BB70-43C9-ACAA-60B5C6D2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0" y="11906250"/>
            <a:ext cx="5143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6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75">
                <a:solidFill>
                  <a:srgbClr val="006633"/>
                </a:solidFill>
              </a:defRPr>
            </a:defPPr>
            <a:lvl1pPr algn="ctr">
              <a:defRPr sz="2775">
                <a:solidFill>
                  <a:srgbClr val="006633"/>
                </a:solidFill>
              </a:defRPr>
            </a:lvl1pPr>
            <a:lvl2pPr algn="ctr">
              <a:defRPr sz="2775">
                <a:solidFill>
                  <a:srgbClr val="006633"/>
                </a:solidFill>
              </a:defRPr>
            </a:lvl2pPr>
            <a:lvl3pPr algn="ctr">
              <a:defRPr sz="2775">
                <a:solidFill>
                  <a:srgbClr val="006633"/>
                </a:solidFill>
              </a:defRPr>
            </a:lvl3pPr>
            <a:lvl4pPr algn="ctr">
              <a:defRPr sz="2775">
                <a:solidFill>
                  <a:srgbClr val="006633"/>
                </a:solidFill>
              </a:defRPr>
            </a:lvl4pPr>
            <a:lvl5pPr algn="ctr">
              <a:defRPr sz="2775">
                <a:solidFill>
                  <a:srgbClr val="006633"/>
                </a:solidFill>
              </a:defRPr>
            </a:lvl5pPr>
            <a:lvl6pPr algn="ctr">
              <a:defRPr sz="2775">
                <a:solidFill>
                  <a:srgbClr val="006633"/>
                </a:solidFill>
              </a:defRPr>
            </a:lvl6pPr>
            <a:lvl7pPr algn="ctr">
              <a:defRPr sz="2775">
                <a:solidFill>
                  <a:srgbClr val="006633"/>
                </a:solidFill>
              </a:defRPr>
            </a:lvl7pPr>
            <a:lvl8pPr algn="ctr">
              <a:defRPr sz="2775">
                <a:solidFill>
                  <a:srgbClr val="006633"/>
                </a:solidFill>
              </a:defRPr>
            </a:lvl8pPr>
            <a:lvl9pPr algn="ctr">
              <a:defRPr sz="2775">
                <a:solidFill>
                  <a:srgbClr val="006633"/>
                </a:solidFill>
              </a:defRPr>
            </a:lvl9pPr>
          </a:lstStyle>
          <a:p xmlns:a="http://schemas.openxmlformats.org/drawingml/2006/main">
            <a:pPr algn="ctr">
              <a:defRPr sz="2775">
                <a:solidFill>
                  <a:srgbClr val="006633"/>
                </a:solidFill>
              </a:defRPr>
            </a:pPr>
            <a:r>
              <a:rPr sz="2775">
                <a:solidFill>
                  <a:srgbClr val="006633"/>
                </a:solidFill>
              </a:rPr>
              <a:t>Operators / entrants</a:t>
            </a:r>
          </a:p>
          <a:p xmlns:a="http://schemas.openxmlformats.org/drawingml/2006/main">
            <a:pPr algn="ctr">
              <a:defRPr sz="2775">
                <a:solidFill>
                  <a:srgbClr val="006633"/>
                </a:solidFill>
              </a:defRPr>
            </a:pPr>
            <a:r>
              <a:rPr sz="2775">
                <a:solidFill>
                  <a:srgbClr val="006633"/>
                </a:solidFill>
              </a:rPr>
              <a:t>Usable value + access</a:t>
            </a:r>
          </a:p>
        </p:txBody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619A1D1-D098-4BCA-B2B2-4331FE94CB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662a6ddda45d4"/>
          <a:stretch xmlns:a="http://schemas.openxmlformats.org/drawingml/2006/main"/>
        </p:blipFill>
        <p:spPr>
          <a:xfrm xmlns:a="http://schemas.openxmlformats.org/drawingml/2006/main">
            <a:off x="30480000" y="13335000"/>
            <a:ext cx="1476375" cy="1476375"/>
          </a:xfrm>
          <a:prstGeom xmlns:a="http://schemas.openxmlformats.org/drawingml/2006/main" prst="rect">
            <a:avLst/>
          </a:prstGeom>
        </p:spPr>
      </p:pic>
      <p:sp>
        <p:nvSpPr>
          <p:cNvPr id="69" name="impactText">
            <a:extLst xmlns:a="http://schemas.openxmlformats.org/drawingml/2006/main">
              <a:ext uri="{FF2B5EF4-FFF2-40B4-BE49-F238E27FC236}">
                <a16:creationId xmlns:a16="http://schemas.microsoft.com/office/drawing/2014/main" id="{C3754237-3F7D-4045-A16C-E761C596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0" y="13239750"/>
            <a:ext cx="9144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0">
                <a:solidFill>
                  <a:srgbClr val="212A33"/>
                </a:solidFill>
              </a:defRPr>
            </a:defPPr>
            <a:lvl1pPr>
              <a:defRPr sz="2550" b="0">
                <a:solidFill>
                  <a:srgbClr val="212A33"/>
                </a:solidFill>
              </a:defRPr>
            </a:lvl1pPr>
            <a:lvl2pPr>
              <a:defRPr sz="2550" b="0">
                <a:solidFill>
                  <a:srgbClr val="212A33"/>
                </a:solidFill>
              </a:defRPr>
            </a:lvl2pPr>
            <a:lvl3pPr>
              <a:defRPr sz="2550" b="0">
                <a:solidFill>
                  <a:srgbClr val="212A33"/>
                </a:solidFill>
              </a:defRPr>
            </a:lvl3pPr>
            <a:lvl4pPr>
              <a:defRPr sz="2550" b="0">
                <a:solidFill>
                  <a:srgbClr val="212A33"/>
                </a:solidFill>
              </a:defRPr>
            </a:lvl4pPr>
            <a:lvl5pPr>
              <a:defRPr sz="2550" b="0">
                <a:solidFill>
                  <a:srgbClr val="212A33"/>
                </a:solidFill>
              </a:defRPr>
            </a:lvl5pPr>
            <a:lvl6pPr>
              <a:defRPr sz="2550" b="0">
                <a:solidFill>
                  <a:srgbClr val="212A33"/>
                </a:solidFill>
              </a:defRPr>
            </a:lvl6pPr>
            <a:lvl7pPr>
              <a:defRPr sz="2550" b="0">
                <a:solidFill>
                  <a:srgbClr val="212A33"/>
                </a:solidFill>
              </a:defRPr>
            </a:lvl7pPr>
            <a:lvl8pPr>
              <a:defRPr sz="2550" b="0">
                <a:solidFill>
                  <a:srgbClr val="212A33"/>
                </a:solidFill>
              </a:defRPr>
            </a:lvl8pPr>
            <a:lvl9pPr>
              <a:defRPr sz="2550" b="0">
                <a:solidFill>
                  <a:srgbClr val="212A33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12A33"/>
                </a:solidFill>
              </a:defRPr>
            </a:pPr>
            <a:r>
              <a:rPr sz="2550" b="0">
                <a:solidFill>
                  <a:srgbClr val="212A33"/>
                </a:solidFill>
              </a:rPr>
              <a:t>TARGET 4.4 · Technical learning</a:t>
            </a:r>
          </a:p>
          <a:p xmlns:a="http://schemas.openxmlformats.org/drawingml/2006/main">
            <a:pPr>
              <a:defRPr sz="2550" b="0">
                <a:solidFill>
                  <a:srgbClr val="212A33"/>
                </a:solidFill>
              </a:defRPr>
            </a:pPr>
            <a:r>
              <a:rPr sz="2550" b="0">
                <a:solidFill>
                  <a:srgbClr val="212A33"/>
                </a:solidFill>
              </a:rPr>
              <a:t>Indicator: prediction accuracy before/after explanation. Baseline: payment-only tutorial.</a:t>
            </a:r>
          </a:p>
          <a:p xmlns:a="http://schemas.openxmlformats.org/drawingml/2006/main">
            <a:pPr>
              <a:defRPr sz="2550" b="0">
                <a:solidFill>
                  <a:srgbClr val="212A33"/>
                </a:solidFill>
              </a:defRPr>
            </a:pPr>
            <a:r>
              <a:rPr sz="2550" b="0">
                <a:solidFill>
                  <a:srgbClr val="212A33"/>
                </a:solidFill>
              </a:rPr>
              <a:t>Risk: access loss / false safety inference. Safeguard: disclose trade-offs; retain local control. No measured human impact.</a:t>
            </a:r>
          </a:p>
        </p:txBody>
      </p:sp>
      <p:sp>
        <p:nvSpPr>
          <p:cNvPr id="70" name="roadmapRoot">
            <a:extLst xmlns:a="http://schemas.openxmlformats.org/drawingml/2006/main">
              <a:ext uri="{FF2B5EF4-FFF2-40B4-BE49-F238E27FC236}">
                <a16:creationId xmlns:a16="http://schemas.microsoft.com/office/drawing/2014/main" id="{9436A56F-86B3-4F5C-BA8D-0DCD8284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0" y="16573500"/>
            <a:ext cx="1085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633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>
                <a:solidFill>
                  <a:srgbClr val="006633"/>
                </a:solidFill>
              </a:defRPr>
            </a:defPPr>
            <a:lvl1pPr algn="ctr">
              <a:defRPr sz="2625">
                <a:solidFill>
                  <a:srgbClr val="006633"/>
                </a:solidFill>
              </a:defRPr>
            </a:lvl1pPr>
            <a:lvl2pPr algn="ctr">
              <a:defRPr sz="2625">
                <a:solidFill>
                  <a:srgbClr val="006633"/>
                </a:solidFill>
              </a:defRPr>
            </a:lvl2pPr>
            <a:lvl3pPr algn="ctr">
              <a:defRPr sz="2625">
                <a:solidFill>
                  <a:srgbClr val="006633"/>
                </a:solidFill>
              </a:defRPr>
            </a:lvl3pPr>
            <a:lvl4pPr algn="ctr">
              <a:defRPr sz="2625">
                <a:solidFill>
                  <a:srgbClr val="006633"/>
                </a:solidFill>
              </a:defRPr>
            </a:lvl4pPr>
            <a:lvl5pPr algn="ctr">
              <a:defRPr sz="2625">
                <a:solidFill>
                  <a:srgbClr val="006633"/>
                </a:solidFill>
              </a:defRPr>
            </a:lvl5pPr>
            <a:lvl6pPr algn="ctr">
              <a:defRPr sz="2625">
                <a:solidFill>
                  <a:srgbClr val="006633"/>
                </a:solidFill>
              </a:defRPr>
            </a:lvl6pPr>
            <a:lvl7pPr algn="ctr">
              <a:defRPr sz="2625">
                <a:solidFill>
                  <a:srgbClr val="006633"/>
                </a:solidFill>
              </a:defRPr>
            </a:lvl7pPr>
            <a:lvl8pPr algn="ctr">
              <a:defRPr sz="2625">
                <a:solidFill>
                  <a:srgbClr val="006633"/>
                </a:solidFill>
              </a:defRPr>
            </a:lvl8pPr>
            <a:lvl9pPr algn="ctr">
              <a:defRPr sz="2625">
                <a:solidFill>
                  <a:srgbClr val="006633"/>
                </a:solidFill>
              </a:defRPr>
            </a:lvl9pPr>
          </a:lstStyle>
          <a:p xmlns:a="http://schemas.openxmlformats.org/drawingml/2006/main">
            <a:pPr algn="ctr">
              <a:defRPr sz="2625">
                <a:solidFill>
                  <a:srgbClr val="006633"/>
                </a:solidFill>
              </a:defRPr>
            </a:pPr>
            <a:r>
              <a:rPr sz="2625">
                <a:solidFill>
                  <a:srgbClr val="006633"/>
                </a:solidFill>
              </a:rPr>
              <a:t>Self-challenge → verify service duration, not just deadlines</a:t>
            </a:r>
          </a:p>
        </p:txBody>
      </p:sp>
      <p:sp>
        <p:nvSpPr>
          <p:cNvPr id="71" name="econ">
            <a:extLst xmlns:a="http://schemas.openxmlformats.org/drawingml/2006/main">
              <a:ext uri="{FF2B5EF4-FFF2-40B4-BE49-F238E27FC236}">
                <a16:creationId xmlns:a16="http://schemas.microsoft.com/office/drawing/2014/main" id="{A860705E-E27E-4BD3-A52A-FAA7FD5E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0" y="17716500"/>
            <a:ext cx="1085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>
                <a:solidFill>
                  <a:srgbClr val="003399"/>
                </a:solidFill>
              </a:defRPr>
            </a:defPPr>
            <a:lvl1pPr algn="ctr">
              <a:defRPr sz="2475">
                <a:solidFill>
                  <a:srgbClr val="003399"/>
                </a:solidFill>
              </a:defRPr>
            </a:lvl1pPr>
            <a:lvl2pPr algn="ctr">
              <a:defRPr sz="2475">
                <a:solidFill>
                  <a:srgbClr val="003399"/>
                </a:solidFill>
              </a:defRPr>
            </a:lvl2pPr>
            <a:lvl3pPr algn="ctr">
              <a:defRPr sz="2475">
                <a:solidFill>
                  <a:srgbClr val="003399"/>
                </a:solidFill>
              </a:defRPr>
            </a:lvl3pPr>
            <a:lvl4pPr algn="ctr">
              <a:defRPr sz="2475">
                <a:solidFill>
                  <a:srgbClr val="003399"/>
                </a:solidFill>
              </a:defRPr>
            </a:lvl4pPr>
            <a:lvl5pPr algn="ctr">
              <a:defRPr sz="2475">
                <a:solidFill>
                  <a:srgbClr val="003399"/>
                </a:solidFill>
              </a:defRPr>
            </a:lvl5pPr>
            <a:lvl6pPr algn="ctr">
              <a:defRPr sz="2475">
                <a:solidFill>
                  <a:srgbClr val="003399"/>
                </a:solidFill>
              </a:defRPr>
            </a:lvl6pPr>
            <a:lvl7pPr algn="ctr">
              <a:defRPr sz="2475">
                <a:solidFill>
                  <a:srgbClr val="003399"/>
                </a:solidFill>
              </a:defRPr>
            </a:lvl7pPr>
            <a:lvl8pPr algn="ctr">
              <a:defRPr sz="2475">
                <a:solidFill>
                  <a:srgbClr val="003399"/>
                </a:solidFill>
              </a:defRPr>
            </a:lvl8pPr>
            <a:lvl9pPr algn="ctr">
              <a:defRPr sz="2475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 algn="ctr">
              <a:defRPr sz="2475">
                <a:solidFill>
                  <a:srgbClr val="003399"/>
                </a:solidFill>
              </a:defRPr>
            </a:pPr>
            <a:r>
              <a:rPr sz="2475">
                <a:solidFill>
                  <a:srgbClr val="003399"/>
                </a:solidFill>
              </a:rPr>
              <a:t>ECONOMICS → Audit joint reports</a:t>
            </a:r>
          </a:p>
          <a:p xmlns:a="http://schemas.openxmlformats.org/drawingml/2006/main">
            <a:pPr algn="ctr">
              <a:defRPr sz="2475">
                <a:solidFill>
                  <a:srgbClr val="003399"/>
                </a:solidFill>
              </a:defRPr>
            </a:pPr>
            <a:r>
              <a:rPr sz="2475">
                <a:solidFill>
                  <a:srgbClr val="003399"/>
                </a:solidFill>
              </a:rPr>
              <a:t>Method: deviation grid; mentor: mechanism design</a:t>
            </a:r>
          </a:p>
          <a:p xmlns:a="http://schemas.openxmlformats.org/drawingml/2006/main">
            <a:pPr algn="ctr">
              <a:defRPr sz="2475">
                <a:solidFill>
                  <a:srgbClr val="003399"/>
                </a:solidFill>
              </a:defRPr>
            </a:pPr>
            <a:r>
              <a:rPr sz="2475">
                <a:solidFill>
                  <a:srgbClr val="003399"/>
                </a:solidFill>
              </a:rPr>
              <a:t>Criterion/milestone: bounded gain; tested audit rule</a:t>
            </a:r>
          </a:p>
        </p:txBody>
      </p:sp>
      <p:sp>
        <p:nvSpPr>
          <p:cNvPr id="72" name="cs">
            <a:extLst xmlns:a="http://schemas.openxmlformats.org/drawingml/2006/main">
              <a:ext uri="{FF2B5EF4-FFF2-40B4-BE49-F238E27FC236}">
                <a16:creationId xmlns:a16="http://schemas.microsoft.com/office/drawing/2014/main" id="{FBF57026-F43D-47E5-A387-8D9A761F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0" y="19192875"/>
            <a:ext cx="1085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>
                <a:solidFill>
                  <a:srgbClr val="003399"/>
                </a:solidFill>
              </a:defRPr>
            </a:defPPr>
            <a:lvl1pPr algn="ctr">
              <a:defRPr sz="2475">
                <a:solidFill>
                  <a:srgbClr val="003399"/>
                </a:solidFill>
              </a:defRPr>
            </a:lvl1pPr>
            <a:lvl2pPr algn="ctr">
              <a:defRPr sz="2475">
                <a:solidFill>
                  <a:srgbClr val="003399"/>
                </a:solidFill>
              </a:defRPr>
            </a:lvl2pPr>
            <a:lvl3pPr algn="ctr">
              <a:defRPr sz="2475">
                <a:solidFill>
                  <a:srgbClr val="003399"/>
                </a:solidFill>
              </a:defRPr>
            </a:lvl3pPr>
            <a:lvl4pPr algn="ctr">
              <a:defRPr sz="2475">
                <a:solidFill>
                  <a:srgbClr val="003399"/>
                </a:solidFill>
              </a:defRPr>
            </a:lvl4pPr>
            <a:lvl5pPr algn="ctr">
              <a:defRPr sz="2475">
                <a:solidFill>
                  <a:srgbClr val="003399"/>
                </a:solidFill>
              </a:defRPr>
            </a:lvl5pPr>
            <a:lvl6pPr algn="ctr">
              <a:defRPr sz="2475">
                <a:solidFill>
                  <a:srgbClr val="003399"/>
                </a:solidFill>
              </a:defRPr>
            </a:lvl6pPr>
            <a:lvl7pPr algn="ctr">
              <a:defRPr sz="2475">
                <a:solidFill>
                  <a:srgbClr val="003399"/>
                </a:solidFill>
              </a:defRPr>
            </a:lvl7pPr>
            <a:lvl8pPr algn="ctr">
              <a:defRPr sz="2475">
                <a:solidFill>
                  <a:srgbClr val="003399"/>
                </a:solidFill>
              </a:defRPr>
            </a:lvl8pPr>
            <a:lvl9pPr algn="ctr">
              <a:defRPr sz="2475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 algn="ctr">
              <a:defRPr sz="2475">
                <a:solidFill>
                  <a:srgbClr val="003399"/>
                </a:solidFill>
              </a:defRPr>
            </a:pPr>
            <a:r>
              <a:rPr sz="2475">
                <a:solidFill>
                  <a:srgbClr val="003399"/>
                </a:solidFill>
              </a:rPr>
              <a:t>CS → Matched Armory workloads [2]</a:t>
            </a:r>
          </a:p>
          <a:p xmlns:a="http://schemas.openxmlformats.org/drawingml/2006/main">
            <a:pPr algn="ctr">
              <a:defRPr sz="2475">
                <a:solidFill>
                  <a:srgbClr val="003399"/>
                </a:solidFill>
              </a:defRPr>
            </a:pPr>
            <a:r>
              <a:rPr sz="2475">
                <a:solidFill>
                  <a:srgbClr val="003399"/>
                </a:solidFill>
              </a:rPr>
              <a:t>Data: robot traces; collaborator: serving researcher</a:t>
            </a:r>
          </a:p>
          <a:p xmlns:a="http://schemas.openxmlformats.org/drawingml/2006/main">
            <a:pPr algn="ctr">
              <a:defRPr sz="2475">
                <a:solidFill>
                  <a:srgbClr val="003399"/>
                </a:solidFill>
              </a:defRPr>
            </a:pPr>
            <a:r>
              <a:rPr sz="2475">
                <a:solidFill>
                  <a:srgbClr val="003399"/>
                </a:solidFill>
              </a:rPr>
              <a:t>Criterion/milestone: value, latency; baseline replay</a:t>
            </a:r>
          </a:p>
        </p:txBody>
      </p:sp>
      <p:sp>
        <p:nvSpPr>
          <p:cNvPr id="73" name="behavior">
            <a:extLst xmlns:a="http://schemas.openxmlformats.org/drawingml/2006/main">
              <a:ext uri="{FF2B5EF4-FFF2-40B4-BE49-F238E27FC236}">
                <a16:creationId xmlns:a16="http://schemas.microsoft.com/office/drawing/2014/main" id="{AF5779E9-D4DF-4194-BC15-B8C2D1BE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0" y="20669250"/>
            <a:ext cx="1085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3399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75">
                <a:solidFill>
                  <a:srgbClr val="003399"/>
                </a:solidFill>
              </a:defRPr>
            </a:defPPr>
            <a:lvl1pPr algn="ctr">
              <a:defRPr sz="2475">
                <a:solidFill>
                  <a:srgbClr val="003399"/>
                </a:solidFill>
              </a:defRPr>
            </a:lvl1pPr>
            <a:lvl2pPr algn="ctr">
              <a:defRPr sz="2475">
                <a:solidFill>
                  <a:srgbClr val="003399"/>
                </a:solidFill>
              </a:defRPr>
            </a:lvl2pPr>
            <a:lvl3pPr algn="ctr">
              <a:defRPr sz="2475">
                <a:solidFill>
                  <a:srgbClr val="003399"/>
                </a:solidFill>
              </a:defRPr>
            </a:lvl3pPr>
            <a:lvl4pPr algn="ctr">
              <a:defRPr sz="2475">
                <a:solidFill>
                  <a:srgbClr val="003399"/>
                </a:solidFill>
              </a:defRPr>
            </a:lvl4pPr>
            <a:lvl5pPr algn="ctr">
              <a:defRPr sz="2475">
                <a:solidFill>
                  <a:srgbClr val="003399"/>
                </a:solidFill>
              </a:defRPr>
            </a:lvl5pPr>
            <a:lvl6pPr algn="ctr">
              <a:defRPr sz="2475">
                <a:solidFill>
                  <a:srgbClr val="003399"/>
                </a:solidFill>
              </a:defRPr>
            </a:lvl6pPr>
            <a:lvl7pPr algn="ctr">
              <a:defRPr sz="2475">
                <a:solidFill>
                  <a:srgbClr val="003399"/>
                </a:solidFill>
              </a:defRPr>
            </a:lvl7pPr>
            <a:lvl8pPr algn="ctr">
              <a:defRPr sz="2475">
                <a:solidFill>
                  <a:srgbClr val="003399"/>
                </a:solidFill>
              </a:defRPr>
            </a:lvl8pPr>
            <a:lvl9pPr algn="ctr">
              <a:defRPr sz="2475">
                <a:solidFill>
                  <a:srgbClr val="003399"/>
                </a:solidFill>
              </a:defRPr>
            </a:lvl9pPr>
          </a:lstStyle>
          <a:p xmlns:a="http://schemas.openxmlformats.org/drawingml/2006/main">
            <a:pPr algn="ctr">
              <a:defRPr sz="2475">
                <a:solidFill>
                  <a:srgbClr val="003399"/>
                </a:solidFill>
              </a:defRPr>
            </a:pPr>
            <a:r>
              <a:rPr sz="2475">
                <a:solidFill>
                  <a:srgbClr val="003399"/>
                </a:solidFill>
              </a:rPr>
              <a:t>BEHAVIOR → Compare explanations [4] · SDG 4.4</a:t>
            </a:r>
          </a:p>
          <a:p xmlns:a="http://schemas.openxmlformats.org/drawingml/2006/main">
            <a:pPr algn="ctr">
              <a:defRPr sz="2475">
                <a:solidFill>
                  <a:srgbClr val="003399"/>
                </a:solidFill>
              </a:defRPr>
            </a:pPr>
            <a:r>
              <a:rPr sz="2475">
                <a:solidFill>
                  <a:srgbClr val="003399"/>
                </a:solidFill>
              </a:rPr>
              <a:t>Data: consented pilot; FP10 if interested</a:t>
            </a:r>
          </a:p>
          <a:p xmlns:a="http://schemas.openxmlformats.org/drawingml/2006/main">
            <a:pPr algn="ctr">
              <a:defRPr sz="2475">
                <a:solidFill>
                  <a:srgbClr val="003399"/>
                </a:solidFill>
              </a:defRPr>
            </a:pPr>
            <a:r>
              <a:rPr sz="2475">
                <a:solidFill>
                  <a:srgbClr val="003399"/>
                </a:solidFill>
              </a:rPr>
              <a:t>Criterion/milestone: prediction error; preregistration</a:t>
            </a:r>
          </a:p>
        </p:txBody>
      </p:sp>
    </p:spTree>
    <p:extLst>
      <p:ext uri="{BB962C8B-B14F-4D97-AF65-F5344CB8AC3E}">
        <p14:creationId xmlns:p14="http://schemas.microsoft.com/office/powerpoint/2010/main" val="81398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2026-10-21T08:26:08.2350000Z</dcterms:created>
  <dcterms:modified xsi:type="dcterms:W3CDTF">2026-10-21T08:26:08.2350000Z</dcterms:modified>
</coreProperties>
</file>